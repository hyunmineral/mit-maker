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10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양자회로 정책 기반 로봇 액추에이터 제어
개발 보고서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50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DE6F2"/>
                </a:solidFill>
                <a:latin typeface="Malgun Gothic"/>
              </a:rPr>
              <a:t>PYNQ-Z2 (Zynq-7020) · Recoil B-G431B-ESC1 · MAD 5010 + 15:1 사이클로이드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이 보고서를 읽기 전에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v1.0은 목표 달성을 가정한 시나리오였고, v2.0은 실제 구현·측정 결과만 담았습니다.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실제 모터는 구동하지 못했습니다. ESC가 납땜 중 부품 과열로 고장 났고(2026-10-07 확인) 트랜시버도 연결하지 못했습니다.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실측 범위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Malgun Gothic"/>
              </a:rPr>
              <a:t>    실제 하드웨어: FPGA 비트스트림, PS CAN 핀 경로, PL 추론 코어, 1 kHz 제어 루프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Malgun Gothic"/>
              </a:rPr>
              <a:t>    ESC 대체: 펌웨어 에뮬레이터 (프로세스 내 또는 CAN 루프백)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Malgun Gothic"/>
              </a:rPr>
              <a:t>    관절 동역학: 시뮬레이션, 관절 값은 추정 범위에서 무작위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"양자"는 고전 칩에서 계산한 파라미터화 양자회로(VQC)를 뜻합니다.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핵심 결과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199999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제어 구조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잔차: 펌웨어 PD(2 kHz) + VQC 피드포워드(1 kHz)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VQC 정책 (72 파라미터)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RMS 1.43 ± 0.07 mrad — PD만(8.79) 대비 약 6배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VQC vs MLP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MLP 6-8-1(65개) 0.98 mrad → VQC보다 32% 정확 → 가설 기각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PL 코어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2,248 cycles = 22.5 µs @100 MHz, WNS +0.366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PL 추론 경로 (C)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29.0 µs (PS C 64.6 µs) · 2.2배 · PS와 ≤4e-7 일치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1 kHz 루프 지터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--sim + VQC-PL: p50 1.2 / p99 4.1 / 최대 4.7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실모터 구동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미수행 (ESC 복구, 트랜시버 배선 필요)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개발 목표와 달성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목표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G1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단축 FOC 제어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모드 전환·추종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❌ ESC 고장(납땜 과열)으로 미수행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PYNQ 실시간 호스트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1 kHz, 지터 &lt; 20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⚠️ --sim+PL에서 p99 4.1 µs. 실 버스 미측정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G3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VQC PL 구현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추론 &lt; 10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⚠️ 코어 22.5 µs, 경로 29 µs, PS와 ≤4e-7 일치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G4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MLP 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오차 차 &lt; 25 %, 50× 절감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❌ 같은 크기 MLP가 32% 더 정확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G5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sim-to-real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재학습 없이 실기 적용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⏳ 실기 미수행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시스템 아키텍처 (v2.0)</a:t>
            </a:r>
          </a:p>
        </p:txBody>
      </p:sp>
      <p:pic>
        <p:nvPicPr>
          <p:cNvPr id="4" name="Picture 3" descr="fig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92" y="1450000"/>
            <a:ext cx="8742416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왜 잔차 구조로 바꿨나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v1.0: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VQC가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토크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전체를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결정</a:t>
            </a:r>
            <a:endParaRPr sz="18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PID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모방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학습에서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레이블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분산의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약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74 %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만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설명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(MSE 0.014 /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분산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0.053)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0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근처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고이득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구간을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매끄러운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회로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함수로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재현하기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어려움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v2.0: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펌웨어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PD가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안정화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VQC는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피드포워드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τ_ff만</a:t>
            </a:r>
            <a:endParaRPr sz="18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Recoil RPDO3 [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q_ref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τ_ff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]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에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그대로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대응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정책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출력이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잘못돼도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관절이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불안정해지지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않고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추종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오차만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커짐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실기에서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더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안전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입력에서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τ_prev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제거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: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출력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되먹임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떨림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dtau_rms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0.029 → 0.0026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VQC 정책 회로</a:t>
            </a:r>
          </a:p>
        </p:txBody>
      </p:sp>
      <p:pic>
        <p:nvPicPr>
          <p:cNvPr id="4" name="Picture 3" descr="fig2-vqc-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43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6큐빗 · 4층 · 72 파라미터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레이어: RY(x) → RX·RY·RZ(θ) → CNOT 링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입력 6개: ∫e, q̇_ref, q̈_ref, q̇, q_ref, 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출력: τ_ff = 0.8·tanh(2⟨Z₀⟩)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PS가 RZ·RY·RX를 2×2 행렬 24개로 미리 합쳐 PL에 적재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실제 개발 타임라인</a:t>
            </a:r>
          </a:p>
        </p:txBody>
      </p:sp>
      <p:pic>
        <p:nvPicPr>
          <p:cNvPr id="4" name="Picture 3" descr="fig7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25" y="1450000"/>
            <a:ext cx="11310949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① 정책 비교 — VQC vs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960000"/>
            <a:ext cx="1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VQC 1.43 ± 0.07 · MLP-65 0.98 ± 0.01 · MLP-4673 1.01 mrad (시드 3개)</a:t>
            </a:r>
          </a:p>
        </p:txBody>
      </p:sp>
      <p:pic>
        <p:nvPicPr>
          <p:cNvPr id="5" name="Picture 4" descr="fig3-vqc-vs-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450000"/>
            <a:ext cx="11400000" cy="4363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② PYNQ-Z2에서 1 kHz 제어</a:t>
            </a:r>
          </a:p>
        </p:txBody>
      </p:sp>
      <p:pic>
        <p:nvPicPr>
          <p:cNvPr id="4" name="Picture 3" descr="fig15-tracking-pyn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3912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--sim RMS: PD 6.01 / 모델 FF 0.17 / VQC 1.21 mrad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CAN 루프백 + 가상 ESC: 6.31 / 0.38 / 1.45 (PL 1.38)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--sim 지터: VQC-PL p99 4.1 µs, VQC-PS 22.9 µs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가상 ESC(Python)의 응답 약 960 µs 때문에 루프백 모드는 1 ms 초과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③ HLS 최적화</a:t>
            </a:r>
          </a:p>
        </p:txBody>
      </p:sp>
      <p:pic>
        <p:nvPicPr>
          <p:cNvPr id="4" name="Picture 3" descr="fig14-hls-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3363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v1 15,343 cycles (14.5 ns ❌)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v2~v3 레지스터 분할 → II 15~27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v4 ping-pong → II=1, 2,643 cycles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v5 초월함수를 PS로 → 2,248 cycles, LUT 29 %, DSP 33 %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비트스트림 WNS +0.366 ns @100 MHz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④ 추론 경로 실측 (보드, 20,000회)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26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경로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p50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p99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최대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PL — C 드라이버 (전처리+레지스터+코어+tanh)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29.0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29.8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195.5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PS C 커널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64.6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65.7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48 ms (RT 스로틀링)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PL — Python 1회 호출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99.2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114.5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PS — Python 1회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109.3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141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PL — 순수 Python MMIO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745.7 µs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0000" y="422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PL ↔ PS 출력 차이: 학습 파라미터 3.7e-7 (테스트 벡터) / 3.9e-7 (무작위 500) — 부동소수점 반올림 수준. 합성 가중치 C 벤치 2만 회에서는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1 kHz 주기 안의 시간 사용</a:t>
            </a:r>
          </a:p>
        </p:txBody>
      </p:sp>
      <p:pic>
        <p:nvPicPr>
          <p:cNvPr id="4" name="Picture 3" descr="fig5-timing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450000"/>
            <a:ext cx="11400000" cy="49063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CAN 경로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PS CAN0 활성화: 장치 트리 오버레이(status=okay), 기준 클럭 8 → 100 MHz, SP 0.8 (Recoil과 동일)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비트스트림: CAN0 → EMIO → Pmod JA1 (TX, Y18) / JA2 (RX, Y19, 풀업)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컨트롤러 루프백: 5000/5000, Python 왕복 236 µs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두 프로세스 핑퐁: RTT p50 482 / p99 644 µs, 손실 1.1 %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정상 모드, 트랜시버 없음: 비트 오류 → bus-off = 핀 경로가 살아 있다는 증거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남은 일: SN65HVD230 + 120 Ω 배선, 실 ESC로 RTT·지터·손실 측정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웹 시각화 — VQC Actuator Lab (영어 사이트)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960000"/>
            <a:ext cx="1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three.js + Chart.js · 실제 STL 3D 모델 · 브라우저 1 kHz 시뮬레이터 · D:\robot\website</a:t>
            </a:r>
          </a:p>
        </p:txBody>
      </p:sp>
      <p:pic>
        <p:nvPicPr>
          <p:cNvPr id="5" name="Picture 4" descr="fig16-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666" y="1450000"/>
            <a:ext cx="8666667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실제 부품 STL로 조립한 3D 액추에이터</a:t>
            </a:r>
          </a:p>
        </p:txBody>
      </p:sp>
      <p:pic>
        <p:nvPicPr>
          <p:cNvPr id="4" name="Picture 3" descr="fig17-site-actuator-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500000"/>
            <a:ext cx="5500000" cy="3069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000" y="4649688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분해도: 하우징 · 16핀 링 · 15로브 디스크 · 편심축(1.25 mm) · 출력 캐리어 · 모터</a:t>
            </a:r>
          </a:p>
        </p:txBody>
      </p:sp>
      <p:pic>
        <p:nvPicPr>
          <p:cNvPr id="6" name="Picture 5" descr="fig18-site-actuator-cuta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500000"/>
            <a:ext cx="5500000" cy="3359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0000" y="4939320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절단면: 사이클로이드 디스크(빨강)와 출력 플랜지. 모터 −15q, 디스크 공전 + q 자전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브라우저 시뮬레이터 — 연구 코드와 같은 결과</a:t>
            </a:r>
          </a:p>
        </p:txBody>
      </p:sp>
      <p:pic>
        <p:nvPicPr>
          <p:cNvPr id="4" name="Picture 3" descr="fig19-site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445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JS ↔ Python 정책 출력: VQC 1.4e-7, MLP 6.5e-8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폐루프 RMS가 4자리까지 일치: PD 6.0093 · FF 0.1662 · VQC 1.2159 · MLP 0.8107 mrad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그림: J 0.02, τc 0.3 N·m, 지연 2 ms, 두 사인 → VQC 1.29 mrad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24관절 맞대결: PD 6.85 · FF 0.78 · VQC 1.30 · MLP 1.04 mrad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VQC 내부 — 실시간 인코딩 각도와 64개 상태</a:t>
            </a:r>
          </a:p>
        </p:txBody>
      </p:sp>
      <p:pic>
        <p:nvPicPr>
          <p:cNvPr id="4" name="Picture 3" descr="fig20-site-v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03" y="1450000"/>
            <a:ext cx="10544994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주요 문제와 해결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원인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조치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ESC SWD 무응답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납땜 중 부품 과열 (ESD 추정은 기각)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❌ 새 보드 구매 · 교체 절차 수립, 납땜 대신 커넥터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can0 미노출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DT status=disabled (클럭은 있었음)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오버레이 + 서비스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Vivado 실행 차단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스마트 앱 컨트롤 / 2026.1 라이선스 의무화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SAC 끄기, 2024.1 설치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응답 250 ms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시퀀스 번호 없는 프로토콜 + 지난 응답 오인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요청 전 큐 비우기, CAN 필터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HLS II 15~27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제자리 갱신, 루프 평탄화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ping-pong 배열, LOOP_FLATTEN off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PL만 오답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HLS tanh/exp(double) — 원인 미확정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초월함수를 PS로 이전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정책 떨림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τ_prev 되먹임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입력에서 제거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다음 단계 — 실기 시험 시나리오 (예측, 실측 아님)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예측 [근거]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T1~T3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버스 스캔 · info · 캘리브레이션 (gear_ratio −15 설정)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장치 [1], 오류 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PDO 왕복 · 1 kHz 지터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RTT 350~420 µs [계산], 지터 p99 &lt; 20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T5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PD 0.05 rad 사인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RMS 1.64 mrad (1.11~2.11) [시뮬]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T6a/b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사인 0.2 rad 0.5 Hz / 0.3 rad 1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VQC 0.67 / 2.21, MLP 0.60 / 1.41 mrad [시뮬]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T6c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처프 0.5→3.5 Hz (학습 범위 밖)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VQC 12.3 vs MLP 3.2 mrad ⚠️ [시뮬]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T8~T9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시스템 식별 → 범위 밖이면 재학습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algun Gothic"/>
                        </a:rPr>
                        <a:t>J, b, τc 추정, R² &gt;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0000" y="464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actuator-vqc-control-report-scenario.md — 무작위 관절 200개, 모든 수치는 예측. 실측 칸을 채워 v3.0으로 만듭니다.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1 kHz FPGA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제어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스택을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실제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하드웨어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위에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완성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: CAN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비트스트림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, Recoil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드라이버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안전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감시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, PL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추론</a:t>
            </a:r>
            <a:endParaRPr sz="18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PL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코어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: 22.5 µs @100 MHz,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경로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29 µs, PS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대비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2.2배,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PS와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≤4e-7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일치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지터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p99 4.1 µs (--sim)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VQC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정책은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동작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: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PD만보다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약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6배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정확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(1.43 ± 0.07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mrad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그러나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같은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크기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MLP(65)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32%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더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정확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** → "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VQC의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파라미터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효율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"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가설은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이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과제에서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기각</a:t>
            </a:r>
            <a:endParaRPr sz="18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양자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우위와는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무관합니다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. 6큐빗은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고전적으로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완전히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시뮬레이션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가능합니다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한계와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한계</a:t>
            </a:r>
            <a:endParaRPr sz="18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실모터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미구동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관절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파라미터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추정치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실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CAN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버스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미측정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PL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오답의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근본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원인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미확정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큐빗·레이어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스윕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미수행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다음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단계</a:t>
            </a:r>
            <a:endParaRPr sz="18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1) ESC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새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보드로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교체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(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구매함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) →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BOARD_REPLACEMENT.md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: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납땜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전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SWD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확인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펌웨어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배선·60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Ω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측정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recoil_cli.py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scan / info / calibrate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2)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트랜시버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배선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run_controller.py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--policy pd --amp 0.05부터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3)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실기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로그로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시스템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식별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재학습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VQC · MLP ·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모델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FF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실기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비교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1A1A2E"/>
                </a:solidFill>
                <a:latin typeface="Malgun Gothic"/>
              </a:rPr>
              <a:t>    4)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실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버스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RTT ·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지터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·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손실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측정</a:t>
            </a:r>
            <a:r>
              <a:rPr sz="1600" b="0" dirty="0">
                <a:solidFill>
                  <a:srgbClr val="1A1A2E"/>
                </a:solidFill>
                <a:latin typeface="Malgun Gothic"/>
              </a:rPr>
              <a:t> → G2 </a:t>
            </a:r>
            <a:r>
              <a:rPr sz="1600" b="0" dirty="0" err="1">
                <a:solidFill>
                  <a:srgbClr val="1A1A2E"/>
                </a:solidFill>
                <a:latin typeface="Malgun Gothic"/>
              </a:rPr>
              <a:t>재평가</a:t>
            </a:r>
            <a:endParaRPr sz="1600" b="0" dirty="0">
              <a:solidFill>
                <a:srgbClr val="1A1A2E"/>
              </a:solidFill>
              <a:latin typeface="Malgun Gothic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코드와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재현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방법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: D:\robot\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pynq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-can\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README.md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 · </a:t>
            </a:r>
            <a:r>
              <a:rPr sz="1800" b="0" dirty="0" err="1">
                <a:solidFill>
                  <a:srgbClr val="1A1A2E"/>
                </a:solidFill>
                <a:latin typeface="Malgun Gothic"/>
              </a:rPr>
              <a:t>원자료</a:t>
            </a:r>
            <a:r>
              <a:rPr sz="1800" b="0" dirty="0">
                <a:solidFill>
                  <a:srgbClr val="1A1A2E"/>
                </a:solidFill>
                <a:latin typeface="Malgun Gothic"/>
              </a:rPr>
              <a:t>: docs/results/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1636</Words>
  <Application>Microsoft Macintosh PowerPoint</Application>
  <PresentationFormat>와이드스크린</PresentationFormat>
  <Paragraphs>190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김보민</cp:lastModifiedBy>
  <cp:revision>3</cp:revision>
  <dcterms:created xsi:type="dcterms:W3CDTF">2013-01-27T09:14:16Z</dcterms:created>
  <dcterms:modified xsi:type="dcterms:W3CDTF">2026-10-06T21:20:27Z</dcterms:modified>
  <cp:category/>
</cp:coreProperties>
</file>